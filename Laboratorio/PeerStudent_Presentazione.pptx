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6858000" cy="9144000"/>
  <p:embeddedFontLst>
    <p:embeddedFont>
      <p:font typeface="Bitter" pitchFamily="2" charset="77"/>
      <p:regular r:id="rId10"/>
      <p:bold r:id="rId11"/>
      <p:italic r:id="rId12"/>
      <p:boldItalic r:id="rId13"/>
    </p:embeddedFont>
    <p:embeddedFont>
      <p:font typeface="Roboto" panose="02000000000000000000" pitchFamily="2" charset="0"/>
      <p:regular r:id="rId14"/>
      <p:bold r:id="rId15"/>
      <p:italic r:id="rId16"/>
      <p:boldItalic r:id="rId17"/>
    </p:embeddedFont>
    <p:embeddedFont>
      <p:font typeface="Roboto Slab" pitchFamily="2" charset="0"/>
      <p:regular r:id="rId18"/>
      <p:bold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41"/>
    <p:restoredTop sz="94660"/>
  </p:normalViewPr>
  <p:slideViewPr>
    <p:cSldViewPr snapToGrid="0">
      <p:cViewPr varScale="1">
        <p:scale>
          <a:sx n="147" d="100"/>
          <a:sy n="147" d="100"/>
        </p:scale>
        <p:origin x="200" y="4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ae244ebecb_0_1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ae244ebecb_0_1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ae244ebecb_0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ae244ebecb_0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ae244ebecb_0_1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ae244ebecb_0_1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ae244ebecb_0_1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ae244ebecb_0_1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ae244ebecb_0_1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ae244ebecb_0_1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ae244ebecb_0_1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ae244ebecb_0_1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it-IT"/>
          </a:p>
        </p:txBody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513438" y="8309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14487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5FF3C"/>
              </a:buClr>
              <a:buSzPts val="3000"/>
              <a:buNone/>
              <a:defRPr>
                <a:solidFill>
                  <a:srgbClr val="E5FF3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5FF3C"/>
              </a:buClr>
              <a:buSzPts val="3000"/>
              <a:buNone/>
              <a:defRPr>
                <a:solidFill>
                  <a:srgbClr val="E5FF3C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5FF3C"/>
              </a:buClr>
              <a:buSzPts val="3000"/>
              <a:buNone/>
              <a:defRPr>
                <a:solidFill>
                  <a:srgbClr val="E5FF3C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5FF3C"/>
              </a:buClr>
              <a:buSzPts val="3000"/>
              <a:buNone/>
              <a:defRPr>
                <a:solidFill>
                  <a:srgbClr val="E5FF3C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5FF3C"/>
              </a:buClr>
              <a:buSzPts val="3000"/>
              <a:buNone/>
              <a:defRPr>
                <a:solidFill>
                  <a:srgbClr val="E5FF3C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5FF3C"/>
              </a:buClr>
              <a:buSzPts val="3000"/>
              <a:buNone/>
              <a:defRPr>
                <a:solidFill>
                  <a:srgbClr val="E5FF3C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5FF3C"/>
              </a:buClr>
              <a:buSzPts val="3000"/>
              <a:buNone/>
              <a:defRPr>
                <a:solidFill>
                  <a:srgbClr val="E5FF3C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5FF3C"/>
              </a:buClr>
              <a:buSzPts val="3000"/>
              <a:buNone/>
              <a:defRPr>
                <a:solidFill>
                  <a:srgbClr val="E5FF3C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5FF3C"/>
              </a:buClr>
              <a:buSzPts val="3000"/>
              <a:buNone/>
              <a:defRPr>
                <a:solidFill>
                  <a:srgbClr val="E5FF3C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957450"/>
            <a:ext cx="8368200" cy="405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0" y="757550"/>
            <a:ext cx="5783400" cy="188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PeerStudent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Progetto TWeb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AA 25-26</a:t>
            </a:r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Saverio Manco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body" idx="1"/>
          </p:nvPr>
        </p:nvSpPr>
        <p:spPr>
          <a:xfrm>
            <a:off x="387900" y="957450"/>
            <a:ext cx="8368200" cy="405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97FFF6"/>
              </a:buClr>
              <a:buSzPts val="1800"/>
              <a:buAutoNum type="arabicPeriod"/>
            </a:pPr>
            <a:r>
              <a:rPr dirty="0" err="1"/>
              <a:t>Tecnologie</a:t>
            </a:r>
            <a:r>
              <a:rPr dirty="0"/>
              <a:t> </a:t>
            </a:r>
            <a:r>
              <a:rPr dirty="0" err="1"/>
              <a:t>utilizzate</a:t>
            </a:r>
            <a:endParaRPr dirty="0">
              <a:solidFill>
                <a:srgbClr val="97FFF6"/>
              </a:solidFill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dirty="0" err="1"/>
              <a:t>Linguaggio</a:t>
            </a:r>
            <a:r>
              <a:rPr dirty="0"/>
              <a:t>: TypeScript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dirty="0" err="1"/>
              <a:t>Libreria</a:t>
            </a:r>
            <a:r>
              <a:rPr dirty="0"/>
              <a:t> e build tool: React con Vite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dirty="0" err="1"/>
              <a:t>Interfaccia</a:t>
            </a:r>
            <a:r>
              <a:rPr dirty="0"/>
              <a:t>: HTML e CSS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dirty="0" err="1"/>
              <a:t>Comunicazione</a:t>
            </a:r>
            <a:r>
              <a:rPr dirty="0"/>
              <a:t> con il back-end: fetch API, con credentials "include" per il cookie di </a:t>
            </a:r>
            <a:r>
              <a:rPr dirty="0" err="1"/>
              <a:t>sessione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97FFF6"/>
              </a:buClr>
              <a:buSzPts val="1800"/>
              <a:buAutoNum type="arabicPeriod"/>
            </a:pPr>
            <a:r>
              <a:rPr dirty="0"/>
              <a:t>Single-Page Application o Multi Page?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dirty="0" err="1"/>
              <a:t>PeerStudent</a:t>
            </a:r>
            <a:r>
              <a:rPr dirty="0"/>
              <a:t> e' </a:t>
            </a:r>
            <a:r>
              <a:rPr dirty="0" err="1"/>
              <a:t>una</a:t>
            </a:r>
            <a:r>
              <a:rPr dirty="0"/>
              <a:t> Single-Page Application</a:t>
            </a: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dirty="0"/>
              <a:t>Le </a:t>
            </a:r>
            <a:r>
              <a:rPr dirty="0" err="1"/>
              <a:t>finestre</a:t>
            </a:r>
            <a:r>
              <a:rPr dirty="0"/>
              <a:t> di </a:t>
            </a:r>
            <a:r>
              <a:rPr dirty="0" err="1"/>
              <a:t>dettaglio</a:t>
            </a:r>
            <a:r>
              <a:rPr dirty="0"/>
              <a:t> </a:t>
            </a:r>
            <a:r>
              <a:rPr dirty="0" err="1"/>
              <a:t>sono</a:t>
            </a:r>
            <a:r>
              <a:rPr dirty="0"/>
              <a:t> </a:t>
            </a:r>
            <a:r>
              <a:rPr dirty="0" err="1"/>
              <a:t>modali</a:t>
            </a:r>
            <a:r>
              <a:rPr dirty="0"/>
              <a:t> </a:t>
            </a:r>
            <a:r>
              <a:rPr dirty="0" err="1"/>
              <a:t>montate</a:t>
            </a:r>
            <a:r>
              <a:rPr dirty="0"/>
              <a:t> e </a:t>
            </a:r>
            <a:r>
              <a:rPr dirty="0" err="1"/>
              <a:t>smontate</a:t>
            </a:r>
            <a:r>
              <a:rPr dirty="0"/>
              <a:t> </a:t>
            </a:r>
            <a:r>
              <a:rPr dirty="0" err="1"/>
              <a:t>dalle</a:t>
            </a:r>
            <a:r>
              <a:rPr dirty="0"/>
              <a:t> </a:t>
            </a:r>
            <a:r>
              <a:rPr dirty="0" err="1"/>
              <a:t>viste</a:t>
            </a:r>
            <a:r>
              <a:rPr dirty="0"/>
              <a:t>, non </a:t>
            </a:r>
            <a:r>
              <a:rPr dirty="0" err="1"/>
              <a:t>pagine</a:t>
            </a:r>
            <a:r>
              <a:rPr dirty="0"/>
              <a:t> separate</a:t>
            </a:r>
          </a:p>
        </p:txBody>
      </p:sp>
      <p:sp>
        <p:nvSpPr>
          <p:cNvPr id="70" name="Google Shape;70;p14"/>
          <p:cNvSpPr txBox="1">
            <a:spLocks noGrp="1"/>
          </p:cNvSpPr>
          <p:nvPr>
            <p:ph type="title"/>
          </p:nvPr>
        </p:nvSpPr>
        <p:spPr>
          <a:xfrm>
            <a:off x="387900" y="14487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Front-end: caratteristiche di base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>
            <a:off x="387900" y="14487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Front-end: componenti UI</a:t>
            </a:r>
            <a:endParaRPr/>
          </a:p>
        </p:txBody>
      </p:sp>
      <p:sp>
        <p:nvSpPr>
          <p:cNvPr id="901" name="Riquadro901"/>
          <p:cNvSpPr/>
          <p:nvPr/>
        </p:nvSpPr>
        <p:spPr>
          <a:xfrm>
            <a:off x="3703320" y="914400"/>
            <a:ext cx="1737360" cy="329184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 b="1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App</a:t>
            </a:r>
            <a:endParaRPr sz="1800" b="1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902" name="Riquadro902"/>
          <p:cNvSpPr/>
          <p:nvPr/>
        </p:nvSpPr>
        <p:spPr>
          <a:xfrm>
            <a:off x="384048" y="1426464"/>
            <a:ext cx="1188720" cy="329184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900" b="1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Login</a:t>
            </a:r>
            <a:endParaRPr sz="1800" b="1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903" name="Riquadro903"/>
          <p:cNvSpPr/>
          <p:nvPr/>
        </p:nvSpPr>
        <p:spPr>
          <a:xfrm>
            <a:off x="1920240" y="1426464"/>
            <a:ext cx="2194560" cy="329184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 b="1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VistaStudente</a:t>
            </a:r>
            <a:endParaRPr sz="1800" b="1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904" name="Riquadro904"/>
          <p:cNvSpPr/>
          <p:nvPr/>
        </p:nvSpPr>
        <p:spPr>
          <a:xfrm>
            <a:off x="5669280" y="1426464"/>
            <a:ext cx="2194560" cy="329184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 b="1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VistaTutor</a:t>
            </a:r>
            <a:endParaRPr sz="1800" b="1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cxnSp>
        <p:nvCxnSpPr>
          <p:cNvPr id="905" name="Connector 904"/>
          <p:cNvCxnSpPr/>
          <p:nvPr/>
        </p:nvCxnSpPr>
        <p:spPr>
          <a:xfrm flipH="1">
            <a:off x="978408" y="1243584"/>
            <a:ext cx="3593592" cy="182880"/>
          </a:xfrm>
          <a:prstGeom prst="line">
            <a:avLst/>
          </a:prstGeom>
          <a:ln w="9525">
            <a:solidFill>
              <a:srgbClr val="BFD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6" name="Connector 905"/>
          <p:cNvCxnSpPr/>
          <p:nvPr/>
        </p:nvCxnSpPr>
        <p:spPr>
          <a:xfrm flipH="1">
            <a:off x="3017520" y="1243584"/>
            <a:ext cx="1554480" cy="182880"/>
          </a:xfrm>
          <a:prstGeom prst="line">
            <a:avLst/>
          </a:prstGeom>
          <a:ln w="9525">
            <a:solidFill>
              <a:srgbClr val="BFD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7" name="Connector 906"/>
          <p:cNvCxnSpPr/>
          <p:nvPr/>
        </p:nvCxnSpPr>
        <p:spPr>
          <a:xfrm>
            <a:off x="4572000" y="1243584"/>
            <a:ext cx="2194560" cy="182880"/>
          </a:xfrm>
          <a:prstGeom prst="line">
            <a:avLst/>
          </a:prstGeom>
          <a:ln w="9525">
            <a:solidFill>
              <a:srgbClr val="BFD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iquadro905"/>
          <p:cNvSpPr/>
          <p:nvPr/>
        </p:nvSpPr>
        <p:spPr>
          <a:xfrm>
            <a:off x="1280160" y="1956816"/>
            <a:ext cx="1691640" cy="329184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 b="1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BarraRicerca</a:t>
            </a:r>
            <a:endParaRPr sz="1800" b="1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3" name="Riquadro906"/>
          <p:cNvSpPr/>
          <p:nvPr/>
        </p:nvSpPr>
        <p:spPr>
          <a:xfrm>
            <a:off x="3063239" y="1956816"/>
            <a:ext cx="1691640" cy="329184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 b="1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FiltroMaterie</a:t>
            </a:r>
            <a:endParaRPr sz="1800" b="1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4" name="Riquadro907"/>
          <p:cNvSpPr/>
          <p:nvPr/>
        </p:nvSpPr>
        <p:spPr>
          <a:xfrm>
            <a:off x="1280160" y="2359152"/>
            <a:ext cx="1691640" cy="329184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 b="1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ListaSessioni</a:t>
            </a:r>
            <a:endParaRPr sz="1800" b="1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908" name="Riquadro908"/>
          <p:cNvSpPr/>
          <p:nvPr/>
        </p:nvSpPr>
        <p:spPr>
          <a:xfrm>
            <a:off x="3063239" y="2359152"/>
            <a:ext cx="1691640" cy="329184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 b="1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SchedaSessione</a:t>
            </a:r>
            <a:endParaRPr sz="1800" b="1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909" name="Riquadro909"/>
          <p:cNvSpPr/>
          <p:nvPr/>
        </p:nvSpPr>
        <p:spPr>
          <a:xfrm>
            <a:off x="1280160" y="2761488"/>
            <a:ext cx="1691640" cy="329184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 b="1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MiePrenotazioni</a:t>
            </a:r>
            <a:endParaRPr sz="1800" b="1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910" name="Riquadro910"/>
          <p:cNvSpPr/>
          <p:nvPr/>
        </p:nvSpPr>
        <p:spPr>
          <a:xfrm>
            <a:off x="3063239" y="2761488"/>
            <a:ext cx="1691640" cy="329184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 b="1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PannelloNotifiche</a:t>
            </a:r>
            <a:endParaRPr sz="1800" b="1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911" name="Riquadro911"/>
          <p:cNvSpPr/>
          <p:nvPr/>
        </p:nvSpPr>
        <p:spPr>
          <a:xfrm>
            <a:off x="5029200" y="1956816"/>
            <a:ext cx="1691640" cy="329184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 b="1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MieSessioni</a:t>
            </a:r>
            <a:endParaRPr sz="1800" b="1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912" name="Riquadro912"/>
          <p:cNvSpPr/>
          <p:nvPr/>
        </p:nvSpPr>
        <p:spPr>
          <a:xfrm>
            <a:off x="6812280" y="1956816"/>
            <a:ext cx="1691640" cy="329184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 b="1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PannelloRichieste</a:t>
            </a:r>
            <a:endParaRPr sz="1800" b="1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913" name="Riquadro913"/>
          <p:cNvSpPr/>
          <p:nvPr/>
        </p:nvSpPr>
        <p:spPr>
          <a:xfrm>
            <a:off x="5029200" y="2359152"/>
            <a:ext cx="1691640" cy="329184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800" b="1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FormNuovaSessione</a:t>
            </a:r>
            <a:endParaRPr sz="1800" b="1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914" name="TextBox 913"/>
          <p:cNvSpPr txBox="1"/>
          <p:nvPr/>
        </p:nvSpPr>
        <p:spPr>
          <a:xfrm>
            <a:off x="274319" y="3264408"/>
            <a:ext cx="8366760" cy="153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1" dirty="0" err="1">
                <a:solidFill>
                  <a:srgbClr val="F6E7A1"/>
                </a:solidFill>
              </a:rPr>
              <a:t>Finestre</a:t>
            </a:r>
            <a:r>
              <a:rPr sz="1000" b="1" dirty="0">
                <a:solidFill>
                  <a:srgbClr val="F6E7A1"/>
                </a:solidFill>
              </a:rPr>
              <a:t> </a:t>
            </a:r>
            <a:r>
              <a:rPr sz="1000" b="1" dirty="0" err="1">
                <a:solidFill>
                  <a:srgbClr val="F6E7A1"/>
                </a:solidFill>
              </a:rPr>
              <a:t>modali</a:t>
            </a:r>
            <a:r>
              <a:rPr lang="it-IT" sz="1000" b="1" dirty="0">
                <a:solidFill>
                  <a:srgbClr val="F6E7A1"/>
                </a:solidFill>
              </a:rPr>
              <a:t>:</a:t>
            </a:r>
            <a:endParaRPr sz="1000" b="1" dirty="0">
              <a:solidFill>
                <a:srgbClr val="F6E7A1"/>
              </a:solidFill>
            </a:endParaRPr>
          </a:p>
        </p:txBody>
      </p:sp>
      <p:sp>
        <p:nvSpPr>
          <p:cNvPr id="5" name="Riquadro914"/>
          <p:cNvSpPr/>
          <p:nvPr/>
        </p:nvSpPr>
        <p:spPr>
          <a:xfrm>
            <a:off x="502920" y="3584448"/>
            <a:ext cx="1828800" cy="329184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900" b="1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DettaglioSessione</a:t>
            </a:r>
            <a:endParaRPr sz="1800" b="1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915" name="Riquadro915"/>
          <p:cNvSpPr/>
          <p:nvPr/>
        </p:nvSpPr>
        <p:spPr>
          <a:xfrm>
            <a:off x="2606039" y="3584448"/>
            <a:ext cx="1828800" cy="329184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900" b="1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ProfiloTutor</a:t>
            </a:r>
            <a:endParaRPr sz="1800" b="1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916" name="Riquadro916"/>
          <p:cNvSpPr/>
          <p:nvPr/>
        </p:nvSpPr>
        <p:spPr>
          <a:xfrm>
            <a:off x="4709159" y="3584448"/>
            <a:ext cx="1828800" cy="329184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900" b="1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FormFeedback</a:t>
            </a:r>
            <a:endParaRPr sz="1800" b="1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917" name="Riquadro917"/>
          <p:cNvSpPr/>
          <p:nvPr/>
        </p:nvSpPr>
        <p:spPr>
          <a:xfrm>
            <a:off x="6812279" y="3584448"/>
            <a:ext cx="1828800" cy="329184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900" b="1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MioProfilo</a:t>
            </a:r>
            <a:endParaRPr sz="1800" b="1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14487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Front-end: UI e modello dati</a:t>
            </a:r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body" idx="1"/>
          </p:nvPr>
        </p:nvSpPr>
        <p:spPr>
          <a:xfrm>
            <a:off x="387900" y="957450"/>
            <a:ext cx="8368200" cy="405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graphicFrame>
        <p:nvGraphicFramePr>
          <p:cNvPr id="83" name="Table 82"/>
          <p:cNvGraphicFramePr>
            <a:graphicFrameLocks noGrp="1"/>
          </p:cNvGraphicFramePr>
          <p:nvPr/>
        </p:nvGraphicFramePr>
        <p:xfrm>
          <a:off x="384048" y="932688"/>
          <a:ext cx="836676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03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1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Componente</a:t>
                      </a:r>
                    </a:p>
                  </a:txBody>
                  <a:tcPr marL="54864" marT="18288" marB="18288">
                    <a:solidFill>
                      <a:srgbClr val="1B5E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Dati letti</a:t>
                      </a:r>
                    </a:p>
                  </a:txBody>
                  <a:tcPr marL="54864" marT="18288" marB="18288">
                    <a:solidFill>
                      <a:srgbClr val="1B5E7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</a:rPr>
                        <a:t>Dati modificati</a:t>
                      </a:r>
                    </a:p>
                  </a:txBody>
                  <a:tcPr marL="54864" marT="18288" marB="18288">
                    <a:solidFill>
                      <a:srgbClr val="1B5E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03A4F"/>
                          </a:solidFill>
                        </a:rPr>
                        <a:t>FiltroMaterie / BarraRicerca</a:t>
                      </a:r>
                    </a:p>
                  </a:txBody>
                  <a:tcPr marL="54864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03A4F"/>
                          </a:solidFill>
                        </a:rPr>
                        <a:t>Materia</a:t>
                      </a:r>
                    </a:p>
                  </a:txBody>
                  <a:tcPr marL="54864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03A4F"/>
                          </a:solidFill>
                        </a:rPr>
                        <a:t>—</a:t>
                      </a:r>
                    </a:p>
                  </a:txBody>
                  <a:tcPr marL="54864" marT="18288" marB="18288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03A4F"/>
                          </a:solidFill>
                        </a:rPr>
                        <a:t>ListaSessioni / SchedaSessione</a:t>
                      </a:r>
                    </a:p>
                  </a:txBody>
                  <a:tcPr marL="54864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03A4F"/>
                          </a:solidFill>
                        </a:rPr>
                        <a:t>Sessione, Materia, Argomento, Utente</a:t>
                      </a:r>
                    </a:p>
                  </a:txBody>
                  <a:tcPr marL="54864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03A4F"/>
                          </a:solidFill>
                        </a:rPr>
                        <a:t>—</a:t>
                      </a:r>
                    </a:p>
                  </a:txBody>
                  <a:tcPr marL="54864" marT="18288" marB="18288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03A4F"/>
                          </a:solidFill>
                        </a:rPr>
                        <a:t>DettaglioSessione</a:t>
                      </a:r>
                    </a:p>
                  </a:txBody>
                  <a:tcPr marL="54864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03A4F"/>
                          </a:solidFill>
                        </a:rPr>
                        <a:t>Sessione, MaterialeDidattico, Feedback, Prenotazione</a:t>
                      </a:r>
                    </a:p>
                  </a:txBody>
                  <a:tcPr marL="54864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03A4F"/>
                          </a:solidFill>
                        </a:rPr>
                        <a:t>MaterialeDidattico, Avviso</a:t>
                      </a:r>
                    </a:p>
                  </a:txBody>
                  <a:tcPr marL="54864" marT="18288" marB="18288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03A4F"/>
                          </a:solidFill>
                        </a:rPr>
                        <a:t>ProfiloTutor</a:t>
                      </a:r>
                    </a:p>
                  </a:txBody>
                  <a:tcPr marL="54864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03A4F"/>
                          </a:solidFill>
                        </a:rPr>
                        <a:t>Utente, Feedback</a:t>
                      </a:r>
                    </a:p>
                  </a:txBody>
                  <a:tcPr marL="54864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03A4F"/>
                          </a:solidFill>
                        </a:rPr>
                        <a:t>—</a:t>
                      </a:r>
                    </a:p>
                  </a:txBody>
                  <a:tcPr marL="54864" marT="18288" marB="18288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03A4F"/>
                          </a:solidFill>
                        </a:rPr>
                        <a:t>MiePrenotazioni</a:t>
                      </a:r>
                    </a:p>
                  </a:txBody>
                  <a:tcPr marL="54864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03A4F"/>
                          </a:solidFill>
                        </a:rPr>
                        <a:t>Prenotazione, Sessione</a:t>
                      </a:r>
                    </a:p>
                  </a:txBody>
                  <a:tcPr marL="54864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03A4F"/>
                          </a:solidFill>
                        </a:rPr>
                        <a:t>Prenotazione (ritiro)</a:t>
                      </a:r>
                    </a:p>
                  </a:txBody>
                  <a:tcPr marL="54864" marT="18288" marB="18288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03A4F"/>
                          </a:solidFill>
                        </a:rPr>
                        <a:t>PannelloNotifiche</a:t>
                      </a:r>
                    </a:p>
                  </a:txBody>
                  <a:tcPr marL="54864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03A4F"/>
                          </a:solidFill>
                        </a:rPr>
                        <a:t>Prenotazione (link), Avviso</a:t>
                      </a:r>
                    </a:p>
                  </a:txBody>
                  <a:tcPr marL="54864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03A4F"/>
                          </a:solidFill>
                        </a:rPr>
                        <a:t>—</a:t>
                      </a:r>
                    </a:p>
                  </a:txBody>
                  <a:tcPr marL="54864" marT="18288" marB="18288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03A4F"/>
                          </a:solidFill>
                        </a:rPr>
                        <a:t>FormFeedback</a:t>
                      </a:r>
                    </a:p>
                  </a:txBody>
                  <a:tcPr marL="54864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03A4F"/>
                          </a:solidFill>
                        </a:rPr>
                        <a:t>Prenotazione</a:t>
                      </a:r>
                    </a:p>
                  </a:txBody>
                  <a:tcPr marL="54864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03A4F"/>
                          </a:solidFill>
                        </a:rPr>
                        <a:t>Feedback</a:t>
                      </a:r>
                    </a:p>
                  </a:txBody>
                  <a:tcPr marL="54864" marT="18288" marB="18288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03A4F"/>
                          </a:solidFill>
                        </a:rPr>
                        <a:t>MieSessioni</a:t>
                      </a:r>
                    </a:p>
                  </a:txBody>
                  <a:tcPr marL="54864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03A4F"/>
                          </a:solidFill>
                        </a:rPr>
                        <a:t>Sessione, Prenotazione</a:t>
                      </a:r>
                    </a:p>
                  </a:txBody>
                  <a:tcPr marL="54864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03A4F"/>
                          </a:solidFill>
                        </a:rPr>
                        <a:t>Sessione (stato)</a:t>
                      </a:r>
                    </a:p>
                  </a:txBody>
                  <a:tcPr marL="54864" marT="18288" marB="18288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03A4F"/>
                          </a:solidFill>
                        </a:rPr>
                        <a:t>PannelloRichieste</a:t>
                      </a:r>
                    </a:p>
                  </a:txBody>
                  <a:tcPr marL="54864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03A4F"/>
                          </a:solidFill>
                        </a:rPr>
                        <a:t>Prenotazione, Utente</a:t>
                      </a:r>
                    </a:p>
                  </a:txBody>
                  <a:tcPr marL="54864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03A4F"/>
                          </a:solidFill>
                        </a:rPr>
                        <a:t>Prenotazione (stato)</a:t>
                      </a:r>
                    </a:p>
                  </a:txBody>
                  <a:tcPr marL="54864" marT="18288" marB="18288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03A4F"/>
                          </a:solidFill>
                        </a:rPr>
                        <a:t>FormNuovaSessione</a:t>
                      </a:r>
                    </a:p>
                  </a:txBody>
                  <a:tcPr marL="54864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03A4F"/>
                          </a:solidFill>
                        </a:rPr>
                        <a:t>Materia, Argomento</a:t>
                      </a:r>
                    </a:p>
                  </a:txBody>
                  <a:tcPr marL="54864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03A4F"/>
                          </a:solidFill>
                        </a:rPr>
                        <a:t>Sessione</a:t>
                      </a:r>
                    </a:p>
                  </a:txBody>
                  <a:tcPr marL="54864" marT="18288" marB="18288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03A4F"/>
                          </a:solidFill>
                        </a:rPr>
                        <a:t>MioProfilo</a:t>
                      </a:r>
                    </a:p>
                  </a:txBody>
                  <a:tcPr marL="54864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03A4F"/>
                          </a:solidFill>
                        </a:rPr>
                        <a:t>Utente</a:t>
                      </a:r>
                    </a:p>
                  </a:txBody>
                  <a:tcPr marL="54864" marT="18288" marB="18288"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0">
                          <a:solidFill>
                            <a:srgbClr val="103A4F"/>
                          </a:solidFill>
                        </a:rPr>
                        <a:t>—</a:t>
                      </a:r>
                    </a:p>
                  </a:txBody>
                  <a:tcPr marL="54864" marT="18288" marB="18288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14487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dirty="0"/>
              <a:t>Back-End: struttura</a:t>
            </a:r>
            <a:endParaRPr dirty="0"/>
          </a:p>
        </p:txBody>
      </p:sp>
      <p:sp>
        <p:nvSpPr>
          <p:cNvPr id="89" name="TextBox 88"/>
          <p:cNvSpPr txBox="1"/>
          <p:nvPr/>
        </p:nvSpPr>
        <p:spPr>
          <a:xfrm>
            <a:off x="1183118" y="950975"/>
            <a:ext cx="4187952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dirty="0">
                <a:solidFill>
                  <a:srgbClr val="F6E7A1"/>
                </a:solidFill>
              </a:rPr>
              <a:t>@Controller</a:t>
            </a:r>
          </a:p>
        </p:txBody>
      </p:sp>
      <p:sp>
        <p:nvSpPr>
          <p:cNvPr id="918" name="Riquadro918"/>
          <p:cNvSpPr/>
          <p:nvPr/>
        </p:nvSpPr>
        <p:spPr>
          <a:xfrm>
            <a:off x="384048" y="1280160"/>
            <a:ext cx="2743200" cy="347472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850" b="1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AuthController</a:t>
            </a:r>
            <a:endParaRPr sz="1800" b="1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919" name="Riquadro919"/>
          <p:cNvSpPr/>
          <p:nvPr/>
        </p:nvSpPr>
        <p:spPr>
          <a:xfrm>
            <a:off x="384048" y="1682495"/>
            <a:ext cx="2743200" cy="347472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850" b="1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SessioneController</a:t>
            </a:r>
            <a:endParaRPr sz="1800" b="1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920" name="Riquadro920"/>
          <p:cNvSpPr/>
          <p:nvPr/>
        </p:nvSpPr>
        <p:spPr>
          <a:xfrm>
            <a:off x="384048" y="2084831"/>
            <a:ext cx="2743200" cy="347472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850" b="1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PrenotazioneController</a:t>
            </a:r>
            <a:endParaRPr sz="1800" b="1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921" name="Riquadro921"/>
          <p:cNvSpPr/>
          <p:nvPr/>
        </p:nvSpPr>
        <p:spPr>
          <a:xfrm>
            <a:off x="384048" y="2487168"/>
            <a:ext cx="2743200" cy="347472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850" b="1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CatalogoController</a:t>
            </a:r>
            <a:endParaRPr sz="1800" b="1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922" name="Riquadro922"/>
          <p:cNvSpPr/>
          <p:nvPr/>
        </p:nvSpPr>
        <p:spPr>
          <a:xfrm>
            <a:off x="384048" y="2889504"/>
            <a:ext cx="2743200" cy="347472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850" b="1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FeedbackController</a:t>
            </a:r>
            <a:endParaRPr sz="1800" b="1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923" name="Riquadro923"/>
          <p:cNvSpPr/>
          <p:nvPr/>
        </p:nvSpPr>
        <p:spPr>
          <a:xfrm>
            <a:off x="384048" y="3291840"/>
            <a:ext cx="2743200" cy="347472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850" b="1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AvvisoController</a:t>
            </a:r>
            <a:endParaRPr sz="1800" b="1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924" name="TextBox 923"/>
          <p:cNvSpPr txBox="1"/>
          <p:nvPr/>
        </p:nvSpPr>
        <p:spPr>
          <a:xfrm>
            <a:off x="4223704" y="950975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dirty="0">
                <a:solidFill>
                  <a:srgbClr val="F6E7A1"/>
                </a:solidFill>
              </a:rPr>
              <a:t>@Service</a:t>
            </a:r>
          </a:p>
        </p:txBody>
      </p:sp>
      <p:sp>
        <p:nvSpPr>
          <p:cNvPr id="2" name="Riquadro924"/>
          <p:cNvSpPr/>
          <p:nvPr/>
        </p:nvSpPr>
        <p:spPr>
          <a:xfrm>
            <a:off x="3218688" y="1280160"/>
            <a:ext cx="2743200" cy="347472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850" b="1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UtenteService</a:t>
            </a:r>
            <a:endParaRPr sz="1800" b="1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925" name="Riquadro925"/>
          <p:cNvSpPr/>
          <p:nvPr/>
        </p:nvSpPr>
        <p:spPr>
          <a:xfrm>
            <a:off x="3218688" y="1682495"/>
            <a:ext cx="2743200" cy="347472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850" b="1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SessioneService</a:t>
            </a:r>
            <a:endParaRPr sz="1800" b="1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926" name="Riquadro926"/>
          <p:cNvSpPr/>
          <p:nvPr/>
        </p:nvSpPr>
        <p:spPr>
          <a:xfrm>
            <a:off x="3218688" y="2084831"/>
            <a:ext cx="2743200" cy="347472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850" b="1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PrenotazioneService</a:t>
            </a:r>
            <a:endParaRPr sz="1800" b="1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927" name="Riquadro927"/>
          <p:cNvSpPr/>
          <p:nvPr/>
        </p:nvSpPr>
        <p:spPr>
          <a:xfrm>
            <a:off x="3218688" y="2487168"/>
            <a:ext cx="2743200" cy="347472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850" b="1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CatalogoService</a:t>
            </a:r>
            <a:endParaRPr sz="1800" b="1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928" name="Riquadro928"/>
          <p:cNvSpPr/>
          <p:nvPr/>
        </p:nvSpPr>
        <p:spPr>
          <a:xfrm>
            <a:off x="3218688" y="2889504"/>
            <a:ext cx="2743200" cy="347472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850" b="1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FeedbackService</a:t>
            </a:r>
            <a:endParaRPr sz="1800" b="1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929" name="Riquadro929"/>
          <p:cNvSpPr/>
          <p:nvPr/>
        </p:nvSpPr>
        <p:spPr>
          <a:xfrm>
            <a:off x="3218688" y="3291840"/>
            <a:ext cx="2743200" cy="347472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850" b="1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AvvisoService</a:t>
            </a:r>
            <a:endParaRPr sz="1800" b="1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930" name="TextBox 929"/>
          <p:cNvSpPr txBox="1"/>
          <p:nvPr/>
        </p:nvSpPr>
        <p:spPr>
          <a:xfrm>
            <a:off x="6966904" y="92553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6E7A1"/>
                </a:solidFill>
              </a:rPr>
              <a:t>@Repository</a:t>
            </a:r>
          </a:p>
        </p:txBody>
      </p:sp>
      <p:sp>
        <p:nvSpPr>
          <p:cNvPr id="3" name="Riquadro930"/>
          <p:cNvSpPr/>
          <p:nvPr/>
        </p:nvSpPr>
        <p:spPr>
          <a:xfrm>
            <a:off x="6053328" y="1280160"/>
            <a:ext cx="2743200" cy="347472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850" b="1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UtenteRepository</a:t>
            </a:r>
            <a:endParaRPr sz="1800" b="1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931" name="Riquadro931"/>
          <p:cNvSpPr/>
          <p:nvPr/>
        </p:nvSpPr>
        <p:spPr>
          <a:xfrm>
            <a:off x="6053328" y="1682495"/>
            <a:ext cx="2743200" cy="347472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850" b="1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SessioneRepository</a:t>
            </a:r>
            <a:endParaRPr sz="1800" b="1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932" name="Riquadro932"/>
          <p:cNvSpPr/>
          <p:nvPr/>
        </p:nvSpPr>
        <p:spPr>
          <a:xfrm>
            <a:off x="6053328" y="2084831"/>
            <a:ext cx="2743200" cy="347472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850" b="1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PrenotazioneRepository</a:t>
            </a:r>
            <a:endParaRPr sz="1800" b="1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933" name="Riquadro933"/>
          <p:cNvSpPr/>
          <p:nvPr/>
        </p:nvSpPr>
        <p:spPr>
          <a:xfrm>
            <a:off x="6053328" y="2487168"/>
            <a:ext cx="2743200" cy="347472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850" b="1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MateriaRepository</a:t>
            </a:r>
            <a:endParaRPr sz="1800" b="1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934" name="Riquadro934"/>
          <p:cNvSpPr/>
          <p:nvPr/>
        </p:nvSpPr>
        <p:spPr>
          <a:xfrm>
            <a:off x="6053328" y="2889504"/>
            <a:ext cx="2743200" cy="347472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850" b="1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ArgomentoRepository</a:t>
            </a:r>
            <a:endParaRPr sz="1800" b="1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935" name="Riquadro935"/>
          <p:cNvSpPr/>
          <p:nvPr/>
        </p:nvSpPr>
        <p:spPr>
          <a:xfrm>
            <a:off x="6053328" y="3291840"/>
            <a:ext cx="2743200" cy="347472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850" b="1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FeedbackRepository</a:t>
            </a:r>
            <a:endParaRPr sz="1800" b="1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936" name="Riquadro936"/>
          <p:cNvSpPr/>
          <p:nvPr/>
        </p:nvSpPr>
        <p:spPr>
          <a:xfrm>
            <a:off x="6053328" y="3694176"/>
            <a:ext cx="2743200" cy="347472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850" b="1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MaterialeDidatticoRepository</a:t>
            </a:r>
            <a:endParaRPr sz="1800" b="1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  <p:sp>
        <p:nvSpPr>
          <p:cNvPr id="937" name="Riquadro937"/>
          <p:cNvSpPr/>
          <p:nvPr/>
        </p:nvSpPr>
        <p:spPr>
          <a:xfrm>
            <a:off x="6053328" y="4096512"/>
            <a:ext cx="2743200" cy="347472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850" b="1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AvvisoRepository</a:t>
            </a:r>
            <a:endParaRPr sz="1800" b="1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8"/>
          <p:cNvSpPr txBox="1">
            <a:spLocks noGrp="1"/>
          </p:cNvSpPr>
          <p:nvPr>
            <p:ph type="title"/>
          </p:nvPr>
        </p:nvSpPr>
        <p:spPr>
          <a:xfrm>
            <a:off x="387900" y="14487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Back-End: routes</a:t>
            </a:r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387900" y="1002427"/>
            <a:ext cx="4160520" cy="2975173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100"/>
              </a:spcBef>
            </a:pPr>
            <a:r>
              <a:rPr sz="1150" b="1" dirty="0" err="1">
                <a:solidFill>
                  <a:srgbClr val="F6E7A1"/>
                </a:solidFill>
              </a:rPr>
              <a:t>AuthController</a:t>
            </a:r>
            <a:endParaRPr sz="1150" b="1" dirty="0">
              <a:solidFill>
                <a:srgbClr val="F6E7A1"/>
              </a:solidFill>
            </a:endParaRPr>
          </a:p>
          <a:p>
            <a:pPr>
              <a:spcBef>
                <a:spcPts val="100"/>
              </a:spcBef>
            </a:pPr>
            <a:r>
              <a:rPr sz="1000" b="0" dirty="0">
                <a:solidFill>
                  <a:srgbClr val="E6EFF4"/>
                </a:solidFill>
              </a:rPr>
              <a:t>POST /</a:t>
            </a:r>
            <a:r>
              <a:rPr sz="1000" b="0" dirty="0" err="1">
                <a:solidFill>
                  <a:srgbClr val="E6EFF4"/>
                </a:solidFill>
              </a:rPr>
              <a:t>api</a:t>
            </a:r>
            <a:r>
              <a:rPr sz="1000" b="0" dirty="0">
                <a:solidFill>
                  <a:srgbClr val="E6EFF4"/>
                </a:solidFill>
              </a:rPr>
              <a:t>/auth/login</a:t>
            </a:r>
          </a:p>
          <a:p>
            <a:pPr>
              <a:spcBef>
                <a:spcPts val="100"/>
              </a:spcBef>
            </a:pPr>
            <a:r>
              <a:rPr sz="1000" b="0" dirty="0">
                <a:solidFill>
                  <a:srgbClr val="E6EFF4"/>
                </a:solidFill>
              </a:rPr>
              <a:t>POST /</a:t>
            </a:r>
            <a:r>
              <a:rPr sz="1000" b="0" dirty="0" err="1">
                <a:solidFill>
                  <a:srgbClr val="E6EFF4"/>
                </a:solidFill>
              </a:rPr>
              <a:t>api</a:t>
            </a:r>
            <a:r>
              <a:rPr sz="1000" b="0" dirty="0">
                <a:solidFill>
                  <a:srgbClr val="E6EFF4"/>
                </a:solidFill>
              </a:rPr>
              <a:t>/auth/logout</a:t>
            </a:r>
          </a:p>
          <a:p>
            <a:pPr>
              <a:spcBef>
                <a:spcPts val="100"/>
              </a:spcBef>
            </a:pPr>
            <a:r>
              <a:rPr sz="1000" b="0" dirty="0">
                <a:solidFill>
                  <a:srgbClr val="E6EFF4"/>
                </a:solidFill>
              </a:rPr>
              <a:t>GET /</a:t>
            </a:r>
            <a:r>
              <a:rPr sz="1000" b="0" dirty="0" err="1">
                <a:solidFill>
                  <a:srgbClr val="E6EFF4"/>
                </a:solidFill>
              </a:rPr>
              <a:t>api</a:t>
            </a:r>
            <a:r>
              <a:rPr sz="1000" b="0" dirty="0">
                <a:solidFill>
                  <a:srgbClr val="E6EFF4"/>
                </a:solidFill>
              </a:rPr>
              <a:t>/auth/me</a:t>
            </a:r>
          </a:p>
          <a:p>
            <a:pPr>
              <a:spcBef>
                <a:spcPts val="900"/>
              </a:spcBef>
            </a:pPr>
            <a:r>
              <a:rPr sz="1150" b="1" dirty="0" err="1">
                <a:solidFill>
                  <a:srgbClr val="F6E7A1"/>
                </a:solidFill>
              </a:rPr>
              <a:t>CatalogoController</a:t>
            </a:r>
            <a:endParaRPr sz="1150" b="1" dirty="0">
              <a:solidFill>
                <a:srgbClr val="F6E7A1"/>
              </a:solidFill>
            </a:endParaRPr>
          </a:p>
          <a:p>
            <a:pPr>
              <a:spcBef>
                <a:spcPts val="100"/>
              </a:spcBef>
            </a:pPr>
            <a:r>
              <a:rPr sz="1000" b="0" dirty="0">
                <a:solidFill>
                  <a:srgbClr val="E6EFF4"/>
                </a:solidFill>
              </a:rPr>
              <a:t>GET /</a:t>
            </a:r>
            <a:r>
              <a:rPr sz="1000" b="0" dirty="0" err="1">
                <a:solidFill>
                  <a:srgbClr val="E6EFF4"/>
                </a:solidFill>
              </a:rPr>
              <a:t>api</a:t>
            </a:r>
            <a:r>
              <a:rPr sz="1000" b="0" dirty="0">
                <a:solidFill>
                  <a:srgbClr val="E6EFF4"/>
                </a:solidFill>
              </a:rPr>
              <a:t>/</a:t>
            </a:r>
            <a:r>
              <a:rPr sz="1000" b="0" dirty="0" err="1">
                <a:solidFill>
                  <a:srgbClr val="E6EFF4"/>
                </a:solidFill>
              </a:rPr>
              <a:t>materie</a:t>
            </a:r>
            <a:r>
              <a:rPr sz="1000" b="0" dirty="0">
                <a:solidFill>
                  <a:srgbClr val="E6EFF4"/>
                </a:solidFill>
              </a:rPr>
              <a:t>  </a:t>
            </a:r>
            <a:endParaRPr lang="it-IT" sz="1000" b="0" dirty="0">
              <a:solidFill>
                <a:srgbClr val="E6EFF4"/>
              </a:solidFill>
            </a:endParaRPr>
          </a:p>
          <a:p>
            <a:pPr>
              <a:spcBef>
                <a:spcPts val="100"/>
              </a:spcBef>
            </a:pPr>
            <a:r>
              <a:rPr sz="1000" b="0" dirty="0">
                <a:solidFill>
                  <a:srgbClr val="E6EFF4"/>
                </a:solidFill>
              </a:rPr>
              <a:t>GET /</a:t>
            </a:r>
            <a:r>
              <a:rPr sz="1000" b="0" dirty="0" err="1">
                <a:solidFill>
                  <a:srgbClr val="E6EFF4"/>
                </a:solidFill>
              </a:rPr>
              <a:t>api</a:t>
            </a:r>
            <a:r>
              <a:rPr sz="1000" b="0" dirty="0">
                <a:solidFill>
                  <a:srgbClr val="E6EFF4"/>
                </a:solidFill>
              </a:rPr>
              <a:t>/</a:t>
            </a:r>
            <a:r>
              <a:rPr sz="1000" b="0" dirty="0" err="1">
                <a:solidFill>
                  <a:srgbClr val="E6EFF4"/>
                </a:solidFill>
              </a:rPr>
              <a:t>materie</a:t>
            </a:r>
            <a:r>
              <a:rPr sz="1000" b="0" dirty="0">
                <a:solidFill>
                  <a:srgbClr val="E6EFF4"/>
                </a:solidFill>
              </a:rPr>
              <a:t>/{id}</a:t>
            </a:r>
          </a:p>
          <a:p>
            <a:pPr>
              <a:spcBef>
                <a:spcPts val="100"/>
              </a:spcBef>
            </a:pPr>
            <a:r>
              <a:rPr sz="1000" b="0" dirty="0">
                <a:solidFill>
                  <a:srgbClr val="E6EFF4"/>
                </a:solidFill>
              </a:rPr>
              <a:t>GET /</a:t>
            </a:r>
            <a:r>
              <a:rPr sz="1000" b="0" dirty="0" err="1">
                <a:solidFill>
                  <a:srgbClr val="E6EFF4"/>
                </a:solidFill>
              </a:rPr>
              <a:t>api</a:t>
            </a:r>
            <a:r>
              <a:rPr sz="1000" b="0" dirty="0">
                <a:solidFill>
                  <a:srgbClr val="E6EFF4"/>
                </a:solidFill>
              </a:rPr>
              <a:t>/</a:t>
            </a:r>
            <a:r>
              <a:rPr sz="1000" b="0" dirty="0" err="1">
                <a:solidFill>
                  <a:srgbClr val="E6EFF4"/>
                </a:solidFill>
              </a:rPr>
              <a:t>materie</a:t>
            </a:r>
            <a:r>
              <a:rPr sz="1000" b="0" dirty="0">
                <a:solidFill>
                  <a:srgbClr val="E6EFF4"/>
                </a:solidFill>
              </a:rPr>
              <a:t>/{id}/</a:t>
            </a:r>
            <a:r>
              <a:rPr sz="1000" b="0" dirty="0" err="1">
                <a:solidFill>
                  <a:srgbClr val="E6EFF4"/>
                </a:solidFill>
              </a:rPr>
              <a:t>argomenti</a:t>
            </a:r>
            <a:endParaRPr sz="1000" b="0" dirty="0">
              <a:solidFill>
                <a:srgbClr val="E6EFF4"/>
              </a:solidFill>
            </a:endParaRPr>
          </a:p>
          <a:p>
            <a:pPr>
              <a:spcBef>
                <a:spcPts val="900"/>
              </a:spcBef>
            </a:pPr>
            <a:r>
              <a:rPr sz="1150" b="1" dirty="0" err="1">
                <a:solidFill>
                  <a:srgbClr val="F6E7A1"/>
                </a:solidFill>
              </a:rPr>
              <a:t>SessioneController</a:t>
            </a:r>
            <a:endParaRPr sz="1150" b="1" dirty="0">
              <a:solidFill>
                <a:srgbClr val="F6E7A1"/>
              </a:solidFill>
            </a:endParaRPr>
          </a:p>
          <a:p>
            <a:pPr>
              <a:spcBef>
                <a:spcPts val="100"/>
              </a:spcBef>
            </a:pPr>
            <a:r>
              <a:rPr sz="1000" b="0" dirty="0">
                <a:solidFill>
                  <a:srgbClr val="E6EFF4"/>
                </a:solidFill>
              </a:rPr>
              <a:t>GET /</a:t>
            </a:r>
            <a:r>
              <a:rPr sz="1000" b="0" dirty="0" err="1">
                <a:solidFill>
                  <a:srgbClr val="E6EFF4"/>
                </a:solidFill>
              </a:rPr>
              <a:t>api</a:t>
            </a:r>
            <a:r>
              <a:rPr sz="1000" b="0" dirty="0">
                <a:solidFill>
                  <a:srgbClr val="E6EFF4"/>
                </a:solidFill>
              </a:rPr>
              <a:t>/</a:t>
            </a:r>
            <a:r>
              <a:rPr sz="1000" b="0" dirty="0" err="1">
                <a:solidFill>
                  <a:srgbClr val="E6EFF4"/>
                </a:solidFill>
              </a:rPr>
              <a:t>sessioni</a:t>
            </a:r>
            <a:r>
              <a:rPr sz="1000" b="0" dirty="0">
                <a:solidFill>
                  <a:srgbClr val="E6EFF4"/>
                </a:solidFill>
              </a:rPr>
              <a:t>  </a:t>
            </a:r>
            <a:endParaRPr lang="it-IT" sz="1000" dirty="0">
              <a:solidFill>
                <a:srgbClr val="E6EFF4"/>
              </a:solidFill>
            </a:endParaRPr>
          </a:p>
          <a:p>
            <a:pPr>
              <a:spcBef>
                <a:spcPts val="100"/>
              </a:spcBef>
            </a:pPr>
            <a:r>
              <a:rPr sz="1000" b="0" dirty="0">
                <a:solidFill>
                  <a:srgbClr val="E6EFF4"/>
                </a:solidFill>
              </a:rPr>
              <a:t>GET /</a:t>
            </a:r>
            <a:r>
              <a:rPr sz="1000" b="0" dirty="0" err="1">
                <a:solidFill>
                  <a:srgbClr val="E6EFF4"/>
                </a:solidFill>
              </a:rPr>
              <a:t>api</a:t>
            </a:r>
            <a:r>
              <a:rPr sz="1000" b="0" dirty="0">
                <a:solidFill>
                  <a:srgbClr val="E6EFF4"/>
                </a:solidFill>
              </a:rPr>
              <a:t>/</a:t>
            </a:r>
            <a:r>
              <a:rPr sz="1000" b="0" dirty="0" err="1">
                <a:solidFill>
                  <a:srgbClr val="E6EFF4"/>
                </a:solidFill>
              </a:rPr>
              <a:t>sessioni</a:t>
            </a:r>
            <a:r>
              <a:rPr sz="1000" b="0" dirty="0">
                <a:solidFill>
                  <a:srgbClr val="E6EFF4"/>
                </a:solidFill>
              </a:rPr>
              <a:t>/{id}</a:t>
            </a:r>
          </a:p>
          <a:p>
            <a:pPr>
              <a:spcBef>
                <a:spcPts val="100"/>
              </a:spcBef>
            </a:pPr>
            <a:r>
              <a:rPr sz="1000" b="0" dirty="0">
                <a:solidFill>
                  <a:srgbClr val="E6EFF4"/>
                </a:solidFill>
              </a:rPr>
              <a:t>GET /</a:t>
            </a:r>
            <a:r>
              <a:rPr sz="1000" b="0" dirty="0" err="1">
                <a:solidFill>
                  <a:srgbClr val="E6EFF4"/>
                </a:solidFill>
              </a:rPr>
              <a:t>api</a:t>
            </a:r>
            <a:r>
              <a:rPr sz="1000" b="0" dirty="0">
                <a:solidFill>
                  <a:srgbClr val="E6EFF4"/>
                </a:solidFill>
              </a:rPr>
              <a:t>/</a:t>
            </a:r>
            <a:r>
              <a:rPr sz="1000" b="0" dirty="0" err="1">
                <a:solidFill>
                  <a:srgbClr val="E6EFF4"/>
                </a:solidFill>
              </a:rPr>
              <a:t>sessioni</a:t>
            </a:r>
            <a:r>
              <a:rPr sz="1000" b="0" dirty="0">
                <a:solidFill>
                  <a:srgbClr val="E6EFF4"/>
                </a:solidFill>
              </a:rPr>
              <a:t>/tutor/{</a:t>
            </a:r>
            <a:r>
              <a:rPr sz="1000" b="0" dirty="0" err="1">
                <a:solidFill>
                  <a:srgbClr val="E6EFF4"/>
                </a:solidFill>
              </a:rPr>
              <a:t>tutorId</a:t>
            </a:r>
            <a:r>
              <a:rPr sz="1000" b="0" dirty="0">
                <a:solidFill>
                  <a:srgbClr val="E6EFF4"/>
                </a:solidFill>
              </a:rPr>
              <a:t>}</a:t>
            </a:r>
          </a:p>
          <a:p>
            <a:pPr>
              <a:spcBef>
                <a:spcPts val="100"/>
              </a:spcBef>
            </a:pPr>
            <a:r>
              <a:rPr sz="1000" b="0" dirty="0">
                <a:solidFill>
                  <a:srgbClr val="E6EFF4"/>
                </a:solidFill>
              </a:rPr>
              <a:t>POST /</a:t>
            </a:r>
            <a:r>
              <a:rPr sz="1000" b="0" dirty="0" err="1">
                <a:solidFill>
                  <a:srgbClr val="E6EFF4"/>
                </a:solidFill>
              </a:rPr>
              <a:t>api</a:t>
            </a:r>
            <a:r>
              <a:rPr sz="1000" b="0" dirty="0">
                <a:solidFill>
                  <a:srgbClr val="E6EFF4"/>
                </a:solidFill>
              </a:rPr>
              <a:t>/</a:t>
            </a:r>
            <a:r>
              <a:rPr sz="1000" b="0" dirty="0" err="1">
                <a:solidFill>
                  <a:srgbClr val="E6EFF4"/>
                </a:solidFill>
              </a:rPr>
              <a:t>sessioni</a:t>
            </a:r>
            <a:r>
              <a:rPr sz="1000" b="0" dirty="0">
                <a:solidFill>
                  <a:srgbClr val="E6EFF4"/>
                </a:solidFill>
              </a:rPr>
              <a:t>  (body)</a:t>
            </a:r>
          </a:p>
          <a:p>
            <a:pPr>
              <a:spcBef>
                <a:spcPts val="100"/>
              </a:spcBef>
            </a:pPr>
            <a:r>
              <a:rPr sz="1000" b="0" dirty="0">
                <a:solidFill>
                  <a:srgbClr val="E6EFF4"/>
                </a:solidFill>
              </a:rPr>
              <a:t>POST /</a:t>
            </a:r>
            <a:r>
              <a:rPr sz="1000" b="0" dirty="0" err="1">
                <a:solidFill>
                  <a:srgbClr val="E6EFF4"/>
                </a:solidFill>
              </a:rPr>
              <a:t>api</a:t>
            </a:r>
            <a:r>
              <a:rPr sz="1000" b="0" dirty="0">
                <a:solidFill>
                  <a:srgbClr val="E6EFF4"/>
                </a:solidFill>
              </a:rPr>
              <a:t>/</a:t>
            </a:r>
            <a:r>
              <a:rPr sz="1000" b="0" dirty="0" err="1">
                <a:solidFill>
                  <a:srgbClr val="E6EFF4"/>
                </a:solidFill>
              </a:rPr>
              <a:t>sessioni</a:t>
            </a:r>
            <a:r>
              <a:rPr sz="1000" b="0" dirty="0">
                <a:solidFill>
                  <a:srgbClr val="E6EFF4"/>
                </a:solidFill>
              </a:rPr>
              <a:t>/{id}/</a:t>
            </a:r>
            <a:r>
              <a:rPr sz="1000" b="0" dirty="0" err="1">
                <a:solidFill>
                  <a:srgbClr val="E6EFF4"/>
                </a:solidFill>
              </a:rPr>
              <a:t>chiudi</a:t>
            </a:r>
            <a:r>
              <a:rPr sz="1000" b="0" dirty="0">
                <a:solidFill>
                  <a:srgbClr val="E6EFF4"/>
                </a:solidFill>
              </a:rPr>
              <a:t> | /completa | /</a:t>
            </a:r>
            <a:r>
              <a:rPr sz="1000" b="0" dirty="0" err="1">
                <a:solidFill>
                  <a:srgbClr val="E6EFF4"/>
                </a:solidFill>
              </a:rPr>
              <a:t>annulla</a:t>
            </a:r>
            <a:endParaRPr sz="1000" b="0" dirty="0">
              <a:solidFill>
                <a:srgbClr val="E6EFF4"/>
              </a:solidFill>
            </a:endParaRPr>
          </a:p>
          <a:p>
            <a:pPr>
              <a:spcBef>
                <a:spcPts val="100"/>
              </a:spcBef>
            </a:pPr>
            <a:r>
              <a:rPr sz="1000" b="0" dirty="0">
                <a:solidFill>
                  <a:srgbClr val="E6EFF4"/>
                </a:solidFill>
              </a:rPr>
              <a:t>GET  /</a:t>
            </a:r>
            <a:r>
              <a:rPr sz="1000" b="0" dirty="0" err="1">
                <a:solidFill>
                  <a:srgbClr val="E6EFF4"/>
                </a:solidFill>
              </a:rPr>
              <a:t>api</a:t>
            </a:r>
            <a:r>
              <a:rPr sz="1000" b="0" dirty="0">
                <a:solidFill>
                  <a:srgbClr val="E6EFF4"/>
                </a:solidFill>
              </a:rPr>
              <a:t>/</a:t>
            </a:r>
            <a:r>
              <a:rPr sz="1000" b="0" dirty="0" err="1">
                <a:solidFill>
                  <a:srgbClr val="E6EFF4"/>
                </a:solidFill>
              </a:rPr>
              <a:t>sessioni</a:t>
            </a:r>
            <a:r>
              <a:rPr sz="1000" b="0" dirty="0">
                <a:solidFill>
                  <a:srgbClr val="E6EFF4"/>
                </a:solidFill>
              </a:rPr>
              <a:t>/{id}/</a:t>
            </a:r>
            <a:r>
              <a:rPr sz="1000" b="0" dirty="0" err="1">
                <a:solidFill>
                  <a:srgbClr val="E6EFF4"/>
                </a:solidFill>
              </a:rPr>
              <a:t>materiali</a:t>
            </a:r>
            <a:endParaRPr sz="1000" b="0" dirty="0">
              <a:solidFill>
                <a:srgbClr val="E6EFF4"/>
              </a:solidFill>
            </a:endParaRPr>
          </a:p>
          <a:p>
            <a:pPr>
              <a:spcBef>
                <a:spcPts val="100"/>
              </a:spcBef>
            </a:pPr>
            <a:r>
              <a:rPr sz="1000" b="0" dirty="0">
                <a:solidFill>
                  <a:srgbClr val="E6EFF4"/>
                </a:solidFill>
              </a:rPr>
              <a:t>POST /</a:t>
            </a:r>
            <a:r>
              <a:rPr sz="1000" b="0" dirty="0" err="1">
                <a:solidFill>
                  <a:srgbClr val="E6EFF4"/>
                </a:solidFill>
              </a:rPr>
              <a:t>api</a:t>
            </a:r>
            <a:r>
              <a:rPr sz="1000" b="0" dirty="0">
                <a:solidFill>
                  <a:srgbClr val="E6EFF4"/>
                </a:solidFill>
              </a:rPr>
              <a:t>/</a:t>
            </a:r>
            <a:r>
              <a:rPr sz="1000" b="0" dirty="0" err="1">
                <a:solidFill>
                  <a:srgbClr val="E6EFF4"/>
                </a:solidFill>
              </a:rPr>
              <a:t>sessioni</a:t>
            </a:r>
            <a:r>
              <a:rPr sz="1000" b="0" dirty="0">
                <a:solidFill>
                  <a:srgbClr val="E6EFF4"/>
                </a:solidFill>
              </a:rPr>
              <a:t>/{id}/</a:t>
            </a:r>
            <a:r>
              <a:rPr sz="1000" b="0" dirty="0" err="1">
                <a:solidFill>
                  <a:srgbClr val="E6EFF4"/>
                </a:solidFill>
              </a:rPr>
              <a:t>materiali</a:t>
            </a:r>
            <a:r>
              <a:rPr sz="1000" b="0" dirty="0">
                <a:solidFill>
                  <a:srgbClr val="E6EFF4"/>
                </a:solidFill>
              </a:rPr>
              <a:t>  (body)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617720" y="914400"/>
            <a:ext cx="4160520" cy="39319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Bef>
                <a:spcPts val="100"/>
              </a:spcBef>
            </a:pPr>
            <a:r>
              <a:rPr sz="1150" b="1">
                <a:solidFill>
                  <a:srgbClr val="F6E7A1"/>
                </a:solidFill>
              </a:rPr>
              <a:t>PrenotazioneController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E6EFF4"/>
                </a:solidFill>
              </a:rPr>
              <a:t>POST /api/prenotazioni  (body)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E6EFF4"/>
                </a:solidFill>
              </a:rPr>
              <a:t>GET /api/prenotazioni/mie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E6EFF4"/>
                </a:solidFill>
              </a:rPr>
              <a:t>GET /api/prenotazioni/richieste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E6EFF4"/>
                </a:solidFill>
              </a:rPr>
              <a:t>GET /api/prenotazioni/sessione/{id}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E6EFF4"/>
                </a:solidFill>
              </a:rPr>
              <a:t>POST /api/prenotazioni/{id}/accetta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E6EFF4"/>
                </a:solidFill>
              </a:rPr>
              <a:t>POST /api/prenotazioni/{id}/rifiuta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E6EFF4"/>
                </a:solidFill>
              </a:rPr>
              <a:t>POST /api/prenotazioni/{id}/ritira</a:t>
            </a:r>
          </a:p>
          <a:p>
            <a:pPr>
              <a:spcBef>
                <a:spcPts val="900"/>
              </a:spcBef>
            </a:pPr>
            <a:r>
              <a:rPr sz="1150" b="1">
                <a:solidFill>
                  <a:srgbClr val="F6E7A1"/>
                </a:solidFill>
              </a:rPr>
              <a:t>FeedbackController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E6EFF4"/>
                </a:solidFill>
              </a:rPr>
              <a:t>POST /api/feedback  (body)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E6EFF4"/>
                </a:solidFill>
              </a:rPr>
              <a:t>GET /api/feedback/tutor/{id}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E6EFF4"/>
                </a:solidFill>
              </a:rPr>
              <a:t>GET /api/feedback/tutor/{id}/media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E6EFF4"/>
                </a:solidFill>
              </a:rPr>
              <a:t>GET /api/feedback/sessione/{id}</a:t>
            </a:r>
          </a:p>
          <a:p>
            <a:pPr>
              <a:spcBef>
                <a:spcPts val="900"/>
              </a:spcBef>
            </a:pPr>
            <a:r>
              <a:rPr sz="1150" b="1">
                <a:solidFill>
                  <a:srgbClr val="F6E7A1"/>
                </a:solidFill>
              </a:rPr>
              <a:t>AvvisoController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E6EFF4"/>
                </a:solidFill>
              </a:rPr>
              <a:t>POST /api/avvisi  (body)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E6EFF4"/>
                </a:solidFill>
              </a:rPr>
              <a:t>GET /api/avvisi/miei</a:t>
            </a:r>
          </a:p>
          <a:p>
            <a:pPr>
              <a:spcBef>
                <a:spcPts val="100"/>
              </a:spcBef>
            </a:pPr>
            <a:r>
              <a:rPr sz="1000" b="0">
                <a:solidFill>
                  <a:srgbClr val="E6EFF4"/>
                </a:solidFill>
              </a:rPr>
              <a:t>GET /api/avvisi/sessione/{id}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>
            <a:spLocks noGrp="1"/>
          </p:cNvSpPr>
          <p:nvPr>
            <p:ph type="title"/>
          </p:nvPr>
        </p:nvSpPr>
        <p:spPr>
          <a:xfrm>
            <a:off x="387900" y="14487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/>
              <a:t>Back-End: DB</a:t>
            </a:r>
            <a:endParaRPr/>
          </a:p>
        </p:txBody>
      </p:sp>
      <p:sp>
        <p:nvSpPr>
          <p:cNvPr id="938" name="Riquadro938"/>
          <p:cNvSpPr/>
          <p:nvPr/>
        </p:nvSpPr>
        <p:spPr>
          <a:xfrm>
            <a:off x="457200" y="960120"/>
            <a:ext cx="1691640" cy="768096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0" tIns="18288" rIns="45720" bIns="1828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850" b="1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utenti</a:t>
            </a:r>
            <a:endParaRPr sz="1800" b="1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  <a:p>
            <a:pPr algn="l"/>
            <a:r>
              <a:rPr sz="650" b="0">
                <a:solidFill>
                  <a:srgbClr val="303030"/>
                </a:solidFill>
              </a:rPr>
              <a:t>id (PK)</a:t>
            </a:r>
          </a:p>
          <a:p>
            <a:pPr algn="l"/>
            <a:r>
              <a:rPr sz="650" b="0">
                <a:solidFill>
                  <a:srgbClr val="303030"/>
                </a:solidFill>
              </a:rPr>
              <a:t>username, password</a:t>
            </a:r>
          </a:p>
          <a:p>
            <a:pPr algn="l"/>
            <a:r>
              <a:rPr sz="650" b="0">
                <a:solidFill>
                  <a:srgbClr val="303030"/>
                </a:solidFill>
              </a:rPr>
              <a:t>nome, cognome, email</a:t>
            </a:r>
          </a:p>
          <a:p>
            <a:pPr algn="l"/>
            <a:r>
              <a:rPr sz="650" b="0">
                <a:solidFill>
                  <a:srgbClr val="303030"/>
                </a:solidFill>
              </a:rPr>
              <a:t>matricola, data_nascita</a:t>
            </a:r>
          </a:p>
          <a:p>
            <a:pPr algn="l"/>
            <a:r>
              <a:rPr sz="650" b="0">
                <a:solidFill>
                  <a:srgbClr val="303030"/>
                </a:solidFill>
              </a:rPr>
              <a:t>ruolo</a:t>
            </a:r>
          </a:p>
        </p:txBody>
      </p:sp>
      <p:sp>
        <p:nvSpPr>
          <p:cNvPr id="939" name="Riquadro939"/>
          <p:cNvSpPr/>
          <p:nvPr/>
        </p:nvSpPr>
        <p:spPr>
          <a:xfrm>
            <a:off x="457200" y="2011680"/>
            <a:ext cx="1691640" cy="651052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0" tIns="18288" rIns="45720" bIns="1828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850" b="1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materie</a:t>
            </a:r>
            <a:endParaRPr sz="1800" b="1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  <a:p>
            <a:pPr algn="l"/>
            <a:r>
              <a:rPr sz="650" b="0">
                <a:solidFill>
                  <a:srgbClr val="303030"/>
                </a:solidFill>
              </a:rPr>
              <a:t>id (PK)</a:t>
            </a:r>
          </a:p>
          <a:p>
            <a:pPr algn="l"/>
            <a:r>
              <a:rPr sz="650" b="0">
                <a:solidFill>
                  <a:srgbClr val="303030"/>
                </a:solidFill>
              </a:rPr>
              <a:t>nome</a:t>
            </a:r>
          </a:p>
          <a:p>
            <a:pPr algn="l"/>
            <a:r>
              <a:rPr sz="650" b="0">
                <a:solidFill>
                  <a:srgbClr val="303030"/>
                </a:solidFill>
              </a:rPr>
              <a:t>codice_esame</a:t>
            </a:r>
          </a:p>
          <a:p>
            <a:pPr algn="l"/>
            <a:r>
              <a:rPr sz="650" b="0">
                <a:solidFill>
                  <a:srgbClr val="303030"/>
                </a:solidFill>
              </a:rPr>
              <a:t>anno_corso</a:t>
            </a:r>
          </a:p>
        </p:txBody>
      </p:sp>
      <p:sp>
        <p:nvSpPr>
          <p:cNvPr id="940" name="Riquadro940"/>
          <p:cNvSpPr/>
          <p:nvPr/>
        </p:nvSpPr>
        <p:spPr>
          <a:xfrm>
            <a:off x="457200" y="2926080"/>
            <a:ext cx="1691640" cy="534009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0" tIns="18288" rIns="45720" bIns="1828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850" b="1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argomenti</a:t>
            </a:r>
            <a:endParaRPr sz="1800" b="1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  <a:p>
            <a:pPr algn="l"/>
            <a:r>
              <a:rPr sz="650" b="0">
                <a:solidFill>
                  <a:srgbClr val="303030"/>
                </a:solidFill>
              </a:rPr>
              <a:t>id (PK)</a:t>
            </a:r>
          </a:p>
          <a:p>
            <a:pPr algn="l"/>
            <a:r>
              <a:rPr sz="650" b="0">
                <a:solidFill>
                  <a:srgbClr val="303030"/>
                </a:solidFill>
              </a:rPr>
              <a:t>nome</a:t>
            </a:r>
          </a:p>
          <a:p>
            <a:pPr algn="l"/>
            <a:r>
              <a:rPr sz="650" b="0">
                <a:solidFill>
                  <a:srgbClr val="303030"/>
                </a:solidFill>
              </a:rPr>
              <a:t>materia_id (FK)</a:t>
            </a:r>
          </a:p>
        </p:txBody>
      </p:sp>
      <p:sp>
        <p:nvSpPr>
          <p:cNvPr id="941" name="Riquadro941"/>
          <p:cNvSpPr/>
          <p:nvPr/>
        </p:nvSpPr>
        <p:spPr>
          <a:xfrm>
            <a:off x="2651760" y="1463040"/>
            <a:ext cx="1965960" cy="1119225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0" tIns="18288" rIns="45720" bIns="1828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850" b="1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sessioni</a:t>
            </a:r>
            <a:endParaRPr sz="1800" b="1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  <a:p>
            <a:pPr algn="l"/>
            <a:r>
              <a:rPr sz="650" b="0">
                <a:solidFill>
                  <a:srgbClr val="303030"/>
                </a:solidFill>
              </a:rPr>
              <a:t>id (PK)</a:t>
            </a:r>
          </a:p>
          <a:p>
            <a:pPr algn="l"/>
            <a:r>
              <a:rPr sz="650" b="0">
                <a:solidFill>
                  <a:srgbClr val="303030"/>
                </a:solidFill>
              </a:rPr>
              <a:t>titolo, descrizione</a:t>
            </a:r>
          </a:p>
          <a:p>
            <a:pPr algn="l"/>
            <a:r>
              <a:rPr sz="650" b="0">
                <a:solidFill>
                  <a:srgbClr val="303030"/>
                </a:solidFill>
              </a:rPr>
              <a:t>data_ora, luogo</a:t>
            </a:r>
          </a:p>
          <a:p>
            <a:pPr algn="l"/>
            <a:r>
              <a:rPr sz="650" b="0">
                <a:solidFill>
                  <a:srgbClr val="303030"/>
                </a:solidFill>
              </a:rPr>
              <a:t>link_incontro</a:t>
            </a:r>
          </a:p>
          <a:p>
            <a:pPr algn="l"/>
            <a:r>
              <a:rPr sz="650" b="0">
                <a:solidFill>
                  <a:srgbClr val="303030"/>
                </a:solidFill>
              </a:rPr>
              <a:t>modalita, stato</a:t>
            </a:r>
          </a:p>
          <a:p>
            <a:pPr algn="l"/>
            <a:r>
              <a:rPr sz="650" b="0">
                <a:solidFill>
                  <a:srgbClr val="303030"/>
                </a:solidFill>
              </a:rPr>
              <a:t>posti_totali</a:t>
            </a:r>
          </a:p>
          <a:p>
            <a:pPr algn="l"/>
            <a:r>
              <a:rPr sz="650" b="0">
                <a:solidFill>
                  <a:srgbClr val="303030"/>
                </a:solidFill>
              </a:rPr>
              <a:t>tutor_id (FK)</a:t>
            </a:r>
          </a:p>
          <a:p>
            <a:pPr algn="l"/>
            <a:r>
              <a:rPr sz="650" b="0">
                <a:solidFill>
                  <a:srgbClr val="303030"/>
                </a:solidFill>
              </a:rPr>
              <a:t>materia_id (FK)</a:t>
            </a:r>
          </a:p>
        </p:txBody>
      </p:sp>
      <p:sp>
        <p:nvSpPr>
          <p:cNvPr id="942" name="Riquadro942"/>
          <p:cNvSpPr/>
          <p:nvPr/>
        </p:nvSpPr>
        <p:spPr>
          <a:xfrm>
            <a:off x="2651760" y="2926080"/>
            <a:ext cx="1965960" cy="416966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0" tIns="18288" rIns="45720" bIns="1828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850" b="1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sessioni_argomenti</a:t>
            </a:r>
            <a:endParaRPr sz="1800" b="1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  <a:p>
            <a:pPr algn="l"/>
            <a:r>
              <a:rPr sz="650" b="0">
                <a:solidFill>
                  <a:srgbClr val="303030"/>
                </a:solidFill>
              </a:rPr>
              <a:t>sessione_id (FK)</a:t>
            </a:r>
          </a:p>
          <a:p>
            <a:pPr algn="l"/>
            <a:r>
              <a:rPr sz="650" b="0">
                <a:solidFill>
                  <a:srgbClr val="303030"/>
                </a:solidFill>
              </a:rPr>
              <a:t>argomento_id (FK)</a:t>
            </a:r>
          </a:p>
        </p:txBody>
      </p:sp>
      <p:sp>
        <p:nvSpPr>
          <p:cNvPr id="943" name="Riquadro943"/>
          <p:cNvSpPr/>
          <p:nvPr/>
        </p:nvSpPr>
        <p:spPr>
          <a:xfrm>
            <a:off x="5116068" y="852221"/>
            <a:ext cx="1874519" cy="885139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0" tIns="18288" rIns="45720" bIns="1828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850" b="1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prenotazioni</a:t>
            </a:r>
            <a:endParaRPr sz="1800" b="1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  <a:p>
            <a:pPr algn="l"/>
            <a:r>
              <a:rPr sz="650" b="0">
                <a:solidFill>
                  <a:srgbClr val="303030"/>
                </a:solidFill>
              </a:rPr>
              <a:t>id (PK)</a:t>
            </a:r>
          </a:p>
          <a:p>
            <a:pPr algn="l"/>
            <a:r>
              <a:rPr sz="650" b="0">
                <a:solidFill>
                  <a:srgbClr val="303030"/>
                </a:solidFill>
              </a:rPr>
              <a:t>stato, data_richiesta</a:t>
            </a:r>
          </a:p>
          <a:p>
            <a:pPr algn="l"/>
            <a:r>
              <a:rPr sz="650" b="0">
                <a:solidFill>
                  <a:srgbClr val="303030"/>
                </a:solidFill>
              </a:rPr>
              <a:t>messaggio</a:t>
            </a:r>
          </a:p>
          <a:p>
            <a:pPr algn="l"/>
            <a:r>
              <a:rPr sz="650" b="0">
                <a:solidFill>
                  <a:srgbClr val="303030"/>
                </a:solidFill>
              </a:rPr>
              <a:t>email_contatto</a:t>
            </a:r>
          </a:p>
          <a:p>
            <a:pPr algn="l"/>
            <a:r>
              <a:rPr sz="650" b="0">
                <a:solidFill>
                  <a:srgbClr val="303030"/>
                </a:solidFill>
              </a:rPr>
              <a:t>studente_id (FK)</a:t>
            </a:r>
          </a:p>
          <a:p>
            <a:pPr algn="l"/>
            <a:r>
              <a:rPr sz="650" b="0">
                <a:solidFill>
                  <a:srgbClr val="303030"/>
                </a:solidFill>
              </a:rPr>
              <a:t>sessione_id (FK)</a:t>
            </a:r>
          </a:p>
        </p:txBody>
      </p:sp>
      <p:sp>
        <p:nvSpPr>
          <p:cNvPr id="944" name="Riquadro944"/>
          <p:cNvSpPr/>
          <p:nvPr/>
        </p:nvSpPr>
        <p:spPr>
          <a:xfrm>
            <a:off x="5116067" y="1980591"/>
            <a:ext cx="1874519" cy="534009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0" tIns="18288" rIns="45720" bIns="1828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850" b="1" dirty="0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feedback</a:t>
            </a:r>
            <a:endParaRPr sz="1800" b="1" dirty="0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  <a:p>
            <a:pPr algn="l"/>
            <a:r>
              <a:rPr sz="650" b="0" dirty="0">
                <a:solidFill>
                  <a:srgbClr val="303030"/>
                </a:solidFill>
              </a:rPr>
              <a:t>id (PK)</a:t>
            </a:r>
          </a:p>
          <a:p>
            <a:pPr algn="l"/>
            <a:r>
              <a:rPr sz="650" b="0" dirty="0" err="1">
                <a:solidFill>
                  <a:srgbClr val="303030"/>
                </a:solidFill>
              </a:rPr>
              <a:t>voto</a:t>
            </a:r>
            <a:r>
              <a:rPr sz="650" b="0" dirty="0">
                <a:solidFill>
                  <a:srgbClr val="303030"/>
                </a:solidFill>
              </a:rPr>
              <a:t>, </a:t>
            </a:r>
            <a:r>
              <a:rPr sz="650" b="0" dirty="0" err="1">
                <a:solidFill>
                  <a:srgbClr val="303030"/>
                </a:solidFill>
              </a:rPr>
              <a:t>commento</a:t>
            </a:r>
            <a:r>
              <a:rPr sz="650" b="0" dirty="0">
                <a:solidFill>
                  <a:srgbClr val="303030"/>
                </a:solidFill>
              </a:rPr>
              <a:t>, data</a:t>
            </a:r>
          </a:p>
          <a:p>
            <a:pPr algn="l"/>
            <a:r>
              <a:rPr sz="650" b="0" dirty="0" err="1">
                <a:solidFill>
                  <a:srgbClr val="303030"/>
                </a:solidFill>
              </a:rPr>
              <a:t>prenotazione_id</a:t>
            </a:r>
            <a:r>
              <a:rPr sz="650" b="0" dirty="0">
                <a:solidFill>
                  <a:srgbClr val="303030"/>
                </a:solidFill>
              </a:rPr>
              <a:t> (FK, </a:t>
            </a:r>
            <a:r>
              <a:rPr sz="650" b="0" dirty="0" err="1">
                <a:solidFill>
                  <a:srgbClr val="303030"/>
                </a:solidFill>
              </a:rPr>
              <a:t>unico</a:t>
            </a:r>
            <a:r>
              <a:rPr sz="650" b="0" dirty="0">
                <a:solidFill>
                  <a:srgbClr val="303030"/>
                </a:solidFill>
              </a:rPr>
              <a:t>)</a:t>
            </a:r>
          </a:p>
        </p:txBody>
      </p:sp>
      <p:sp>
        <p:nvSpPr>
          <p:cNvPr id="945" name="Riquadro945"/>
          <p:cNvSpPr/>
          <p:nvPr/>
        </p:nvSpPr>
        <p:spPr>
          <a:xfrm>
            <a:off x="5120640" y="2743200"/>
            <a:ext cx="1874519" cy="534009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0" tIns="18288" rIns="45720" bIns="1828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850" b="1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avvisi</a:t>
            </a:r>
            <a:endParaRPr sz="1800" b="1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  <a:p>
            <a:pPr algn="l"/>
            <a:r>
              <a:rPr sz="650" b="0">
                <a:solidFill>
                  <a:srgbClr val="303030"/>
                </a:solidFill>
              </a:rPr>
              <a:t>id (PK)</a:t>
            </a:r>
          </a:p>
          <a:p>
            <a:pPr algn="l"/>
            <a:r>
              <a:rPr sz="650" b="0">
                <a:solidFill>
                  <a:srgbClr val="303030"/>
                </a:solidFill>
              </a:rPr>
              <a:t>testo, data</a:t>
            </a:r>
          </a:p>
          <a:p>
            <a:pPr algn="l"/>
            <a:r>
              <a:rPr sz="650" b="0">
                <a:solidFill>
                  <a:srgbClr val="303030"/>
                </a:solidFill>
              </a:rPr>
              <a:t>sessione_id (FK)</a:t>
            </a:r>
          </a:p>
        </p:txBody>
      </p:sp>
      <p:sp>
        <p:nvSpPr>
          <p:cNvPr id="946" name="Riquadro946"/>
          <p:cNvSpPr/>
          <p:nvPr/>
        </p:nvSpPr>
        <p:spPr>
          <a:xfrm>
            <a:off x="5120640" y="3429000"/>
            <a:ext cx="1874519" cy="534009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720" tIns="18288" rIns="45720" bIns="18288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850" b="1">
                <a:solidFill>
                  <a:schemeClr val="accent3"/>
                </a:solidFill>
                <a:latin typeface="Bitter"/>
                <a:ea typeface="Bitter"/>
                <a:cs typeface="Bitter"/>
                <a:sym typeface="Bitter"/>
              </a:rPr>
              <a:t>materiali_didattici</a:t>
            </a:r>
            <a:endParaRPr sz="1800" b="1">
              <a:solidFill>
                <a:schemeClr val="accent3"/>
              </a:solidFill>
              <a:latin typeface="Bitter"/>
              <a:ea typeface="Bitter"/>
              <a:cs typeface="Bitter"/>
              <a:sym typeface="Bitter"/>
            </a:endParaRPr>
          </a:p>
          <a:p>
            <a:pPr algn="l"/>
            <a:r>
              <a:rPr sz="650" b="0">
                <a:solidFill>
                  <a:srgbClr val="303030"/>
                </a:solidFill>
              </a:rPr>
              <a:t>id (PK)</a:t>
            </a:r>
          </a:p>
          <a:p>
            <a:pPr algn="l"/>
            <a:r>
              <a:rPr sz="650" b="0">
                <a:solidFill>
                  <a:srgbClr val="303030"/>
                </a:solidFill>
              </a:rPr>
              <a:t>titolo, url, tipo</a:t>
            </a:r>
          </a:p>
          <a:p>
            <a:pPr algn="l"/>
            <a:r>
              <a:rPr sz="650" b="0">
                <a:solidFill>
                  <a:srgbClr val="303030"/>
                </a:solidFill>
              </a:rPr>
              <a:t>sessione_id (FK)</a:t>
            </a:r>
          </a:p>
        </p:txBody>
      </p:sp>
      <p:cxnSp>
        <p:nvCxnSpPr>
          <p:cNvPr id="947" name="Connector 946"/>
          <p:cNvCxnSpPr/>
          <p:nvPr/>
        </p:nvCxnSpPr>
        <p:spPr>
          <a:xfrm>
            <a:off x="2148840" y="1325880"/>
            <a:ext cx="502920" cy="411480"/>
          </a:xfrm>
          <a:prstGeom prst="line">
            <a:avLst/>
          </a:prstGeom>
          <a:ln w="9525">
            <a:solidFill>
              <a:srgbClr val="BFD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8" name="Connector 947"/>
          <p:cNvCxnSpPr/>
          <p:nvPr/>
        </p:nvCxnSpPr>
        <p:spPr>
          <a:xfrm flipV="1">
            <a:off x="2148840" y="2148840"/>
            <a:ext cx="502920" cy="182880"/>
          </a:xfrm>
          <a:prstGeom prst="line">
            <a:avLst/>
          </a:prstGeom>
          <a:ln w="9525">
            <a:solidFill>
              <a:srgbClr val="BFD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9" name="Connector 948"/>
          <p:cNvCxnSpPr/>
          <p:nvPr/>
        </p:nvCxnSpPr>
        <p:spPr>
          <a:xfrm>
            <a:off x="1298448" y="2670048"/>
            <a:ext cx="0" cy="256032"/>
          </a:xfrm>
          <a:prstGeom prst="line">
            <a:avLst/>
          </a:prstGeom>
          <a:ln w="9525">
            <a:solidFill>
              <a:srgbClr val="BFD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0" name="Connector 949"/>
          <p:cNvCxnSpPr/>
          <p:nvPr/>
        </p:nvCxnSpPr>
        <p:spPr>
          <a:xfrm flipV="1">
            <a:off x="2148840" y="3090672"/>
            <a:ext cx="502920" cy="18288"/>
          </a:xfrm>
          <a:prstGeom prst="line">
            <a:avLst/>
          </a:prstGeom>
          <a:ln w="9525">
            <a:solidFill>
              <a:srgbClr val="BFD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1" name="Connector 950"/>
          <p:cNvCxnSpPr/>
          <p:nvPr/>
        </p:nvCxnSpPr>
        <p:spPr>
          <a:xfrm>
            <a:off x="3630168" y="2596896"/>
            <a:ext cx="0" cy="329184"/>
          </a:xfrm>
          <a:prstGeom prst="line">
            <a:avLst/>
          </a:prstGeom>
          <a:ln w="9525">
            <a:solidFill>
              <a:srgbClr val="BFD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2" name="Connector 951"/>
          <p:cNvCxnSpPr/>
          <p:nvPr/>
        </p:nvCxnSpPr>
        <p:spPr>
          <a:xfrm>
            <a:off x="2148840" y="1097280"/>
            <a:ext cx="2971800" cy="0"/>
          </a:xfrm>
          <a:prstGeom prst="line">
            <a:avLst/>
          </a:prstGeom>
          <a:ln w="9525">
            <a:solidFill>
              <a:srgbClr val="BFD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3" name="Connector 952"/>
          <p:cNvCxnSpPr/>
          <p:nvPr/>
        </p:nvCxnSpPr>
        <p:spPr>
          <a:xfrm flipV="1">
            <a:off x="4617720" y="1463040"/>
            <a:ext cx="502920" cy="274320"/>
          </a:xfrm>
          <a:prstGeom prst="line">
            <a:avLst/>
          </a:prstGeom>
          <a:ln w="9525">
            <a:solidFill>
              <a:srgbClr val="BFD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4" name="Connector 953"/>
          <p:cNvCxnSpPr/>
          <p:nvPr/>
        </p:nvCxnSpPr>
        <p:spPr>
          <a:xfrm>
            <a:off x="6053328" y="1783080"/>
            <a:ext cx="0" cy="182880"/>
          </a:xfrm>
          <a:prstGeom prst="line">
            <a:avLst/>
          </a:prstGeom>
          <a:ln w="9525">
            <a:solidFill>
              <a:srgbClr val="BFD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5" name="Connector 954"/>
          <p:cNvCxnSpPr/>
          <p:nvPr/>
        </p:nvCxnSpPr>
        <p:spPr>
          <a:xfrm>
            <a:off x="4617720" y="2240280"/>
            <a:ext cx="502920" cy="640080"/>
          </a:xfrm>
          <a:prstGeom prst="line">
            <a:avLst/>
          </a:prstGeom>
          <a:ln w="9525">
            <a:solidFill>
              <a:srgbClr val="BFD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6" name="Connector 955"/>
          <p:cNvCxnSpPr/>
          <p:nvPr/>
        </p:nvCxnSpPr>
        <p:spPr>
          <a:xfrm>
            <a:off x="4617720" y="2468880"/>
            <a:ext cx="502920" cy="1097280"/>
          </a:xfrm>
          <a:prstGeom prst="line">
            <a:avLst/>
          </a:prstGeom>
          <a:ln w="9525">
            <a:solidFill>
              <a:srgbClr val="BFD4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2203</TotalTime>
  <Words>626</Words>
  <Application>Microsoft Macintosh PowerPoint</Application>
  <PresentationFormat>Presentazione su schermo (16:9)</PresentationFormat>
  <Paragraphs>175</Paragraphs>
  <Slides>7</Slides>
  <Notes>7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2" baseType="lpstr">
      <vt:lpstr>Roboto Slab</vt:lpstr>
      <vt:lpstr>Arial</vt:lpstr>
      <vt:lpstr>Roboto</vt:lpstr>
      <vt:lpstr>Bitter</vt:lpstr>
      <vt:lpstr>Marina</vt:lpstr>
      <vt:lpstr> PeerStudent Progetto TWeb AA 25-26</vt:lpstr>
      <vt:lpstr>Front-end: caratteristiche di base</vt:lpstr>
      <vt:lpstr>Front-end: componenti UI</vt:lpstr>
      <vt:lpstr>Front-end: UI e modello dati</vt:lpstr>
      <vt:lpstr>Back-End: struttura</vt:lpstr>
      <vt:lpstr>Back-End: routes</vt:lpstr>
      <vt:lpstr>Back-End: DB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Saverio Manco</cp:lastModifiedBy>
  <cp:revision>5</cp:revision>
  <dcterms:modified xsi:type="dcterms:W3CDTF">2026-09-14T07:51:42Z</dcterms:modified>
</cp:coreProperties>
</file>